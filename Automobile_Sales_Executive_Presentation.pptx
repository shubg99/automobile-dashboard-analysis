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GLOBAL LUXURY AUTOMOBILE ANALYTICS</a:t>
            </a:r>
          </a:p>
          <a:p>
            <a:r>
              <a:rPr sz="1800">
                <a:solidFill>
                  <a:srgbClr val="BFDBFE"/>
                </a:solidFill>
              </a:rPr>
              <a:t>Power BI Executive Dashboard &amp; Comprehensive Business Case Study</a:t>
            </a:r>
          </a:p>
          <a:p>
            <a:pPr>
              <a:spcBef>
                <a:spcPts val="2800"/>
              </a:spcBef>
            </a:pPr>
            <a:r>
              <a:rPr sz="1300">
                <a:solidFill>
                  <a:srgbClr val="E2E8F0"/>
                </a:solidFill>
              </a:rPr>
              <a:t>Scope: 457 Invoices | $31.70M Revenue | 7 Brands | 6 Countries | 2012–2015
Stack: Microsoft Power BI Desktop, DAX Measure Engine, Power Query (M-Code)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AUTOMOBILE BUSINESS INTELLIGENCE CASE STUDY</a:t>
            </a:r>
          </a:p>
          <a:p>
            <a:r>
              <a:rPr sz="2000" b="1">
                <a:solidFill>
                  <a:srgbClr val="FFFFFF"/>
                </a:solidFill>
              </a:rPr>
              <a:t>Executive Scorecard &amp; Multi-Year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116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</a:rPr>
              <a:t>GROSS SALES</a:t>
            </a:r>
          </a:p>
          <a:p>
            <a:pPr algn="ctr"/>
            <a:r>
              <a:rPr sz="2200" b="1">
                <a:solidFill>
                  <a:srgbClr val="1E3A8A"/>
                </a:solidFill>
              </a:rPr>
              <a:t>$31.70M</a:t>
            </a:r>
          </a:p>
          <a:p>
            <a:pPr algn="ctr"/>
            <a:r>
              <a:rPr sz="950">
                <a:solidFill>
                  <a:srgbClr val="059669"/>
                </a:solidFill>
              </a:rPr>
              <a:t>457 Invoices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371600"/>
            <a:ext cx="20116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46304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</a:rPr>
              <a:t>NET PROFIT</a:t>
            </a:r>
          </a:p>
          <a:p>
            <a:pPr algn="ctr"/>
            <a:r>
              <a:rPr sz="2200" b="1">
                <a:solidFill>
                  <a:srgbClr val="1E3A8A"/>
                </a:solidFill>
              </a:rPr>
              <a:t>$10.24M</a:t>
            </a:r>
          </a:p>
          <a:p>
            <a:pPr algn="ctr"/>
            <a:r>
              <a:rPr sz="950">
                <a:solidFill>
                  <a:srgbClr val="059669"/>
                </a:solidFill>
              </a:rPr>
              <a:t>32.3% Margin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371600"/>
            <a:ext cx="20116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46304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</a:rPr>
              <a:t>TOP MAKE</a:t>
            </a:r>
          </a:p>
          <a:p>
            <a:pPr algn="ctr"/>
            <a:r>
              <a:rPr sz="2200" b="1">
                <a:solidFill>
                  <a:srgbClr val="1E3A8A"/>
                </a:solidFill>
              </a:rPr>
              <a:t>Aston Martin</a:t>
            </a:r>
          </a:p>
          <a:p>
            <a:pPr algn="ctr"/>
            <a:r>
              <a:rPr sz="950">
                <a:solidFill>
                  <a:srgbClr val="059669"/>
                </a:solidFill>
              </a:rPr>
              <a:t>$10.69M (33.7%)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371600"/>
            <a:ext cx="20116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46304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</a:rPr>
              <a:t>TOP MODEL</a:t>
            </a:r>
          </a:p>
          <a:p>
            <a:pPr algn="ctr"/>
            <a:r>
              <a:rPr sz="2200" b="1">
                <a:solidFill>
                  <a:srgbClr val="1E3A8A"/>
                </a:solidFill>
              </a:rPr>
              <a:t>DB9</a:t>
            </a:r>
          </a:p>
          <a:p>
            <a:pPr algn="ctr"/>
            <a:r>
              <a:rPr sz="950">
                <a:solidFill>
                  <a:srgbClr val="059669"/>
                </a:solidFill>
              </a:rPr>
              <a:t>$5.42M Gross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371600"/>
            <a:ext cx="20116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463040"/>
            <a:ext cx="1828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</a:rPr>
              <a:t>CORE MARKETS</a:t>
            </a:r>
          </a:p>
          <a:p>
            <a:pPr algn="ctr"/>
            <a:r>
              <a:rPr sz="2200" b="1">
                <a:solidFill>
                  <a:srgbClr val="1E3A8A"/>
                </a:solidFill>
              </a:rPr>
              <a:t>UK &amp; USA</a:t>
            </a:r>
          </a:p>
          <a:p>
            <a:pPr algn="ctr"/>
            <a:r>
              <a:rPr sz="950">
                <a:solidFill>
                  <a:srgbClr val="059669"/>
                </a:solidFill>
              </a:rPr>
              <a:t>86.4% Global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sz="1300">
                <a:solidFill>
                  <a:srgbClr val="0F172A"/>
                </a:solidFill>
              </a:rPr>
              <a:t>• Rapid Multi-Year Growth: Revenue expanded by +369% from $3.19M in 2012 to a record $14.97M in 2015.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F172A"/>
                </a:solidFill>
              </a:rPr>
              <a:t>• High-Margin Vehicle Mix: Dealership network generated a robust 32.3% net profit margin across 457 units.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F172A"/>
                </a:solidFill>
              </a:rPr>
              <a:t>• Cash Cow Brands: Aston Martin ($10.7M sales, $3.7M profit) and Rolls Royce ($7.4M sales, $3.1M profit) generate 66.4% of total profit.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F172A"/>
                </a:solidFill>
              </a:rPr>
              <a:t>• Client Retention: 31 high-net-worth accounts generate an average of $1.02M revenue per purchasing client.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AUTOMOBILE BUSINESS INTELLIGENCE CASE STUDY</a:t>
            </a:r>
          </a:p>
          <a:p>
            <a:r>
              <a:rPr sz="2000" b="1">
                <a:solidFill>
                  <a:srgbClr val="FFFFFF"/>
                </a:solidFill>
              </a:rPr>
              <a:t>Business Intelligence Architecture &amp;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</a:rPr>
              <a:t>1. POWER QUERY ETL</a:t>
            </a:r>
          </a:p>
          <a:p>
            <a:pPr algn="ctr"/>
            <a:r>
              <a:rPr sz="2200" b="1">
                <a:solidFill>
                  <a:srgbClr val="1E3A8A"/>
                </a:solidFill>
              </a:rPr>
              <a:t>Data Hygiene</a:t>
            </a:r>
          </a:p>
          <a:p>
            <a:pPr algn="ctr"/>
            <a:r>
              <a:rPr sz="950">
                <a:solidFill>
                  <a:srgbClr val="059669"/>
                </a:solidFill>
              </a:rPr>
              <a:t>Verified data types
Created TotalCost custom column
Null &amp; anomaly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55448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</a:rPr>
              <a:t>2. STAR SCHEMA MODEL</a:t>
            </a:r>
          </a:p>
          <a:p>
            <a:pPr algn="ctr"/>
            <a:r>
              <a:rPr sz="2200" b="1">
                <a:solidFill>
                  <a:srgbClr val="1E3A8A"/>
                </a:solidFill>
              </a:rPr>
              <a:t>1:* Dimension</a:t>
            </a:r>
          </a:p>
          <a:p>
            <a:pPr algn="ctr"/>
            <a:r>
              <a:rPr sz="950">
                <a:solidFill>
                  <a:srgbClr val="059669"/>
                </a:solidFill>
              </a:rPr>
              <a:t>DAX Calendar table (2012-2015)
Sorted MonthName by MonthNo
Single direction cross-filtering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</a:rPr>
              <a:t>3. DAX CALCULATIONS</a:t>
            </a:r>
          </a:p>
          <a:p>
            <a:pPr algn="ctr"/>
            <a:r>
              <a:rPr sz="2200" b="1">
                <a:solidFill>
                  <a:srgbClr val="1E3A8A"/>
                </a:solidFill>
              </a:rPr>
              <a:t>20+ Measures</a:t>
            </a:r>
          </a:p>
          <a:p>
            <a:pPr algn="ctr"/>
            <a:r>
              <a:rPr sz="950">
                <a:solidFill>
                  <a:srgbClr val="059669"/>
                </a:solidFill>
              </a:rPr>
              <a:t>Time intelligence (YTD, YoY %)
Ranking &amp; Top-N logic
Margin &amp; Target variances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55448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</a:rPr>
              <a:t>4. EXECUTIVE UI DESIGN</a:t>
            </a:r>
          </a:p>
          <a:p>
            <a:pPr algn="ctr"/>
            <a:r>
              <a:rPr sz="2200" b="1">
                <a:solidFill>
                  <a:srgbClr val="1E3A8A"/>
                </a:solidFill>
              </a:rPr>
              <a:t>3-Tier Suite</a:t>
            </a:r>
          </a:p>
          <a:p>
            <a:pPr algn="ctr"/>
            <a:r>
              <a:rPr sz="950">
                <a:solidFill>
                  <a:srgbClr val="059669"/>
                </a:solidFill>
              </a:rPr>
              <a:t>Executive Overview (P1)
Financial Dynamics (P2)
Regional Analysis (P3)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AUTOMOBILE BUSINESS INTELLIGENCE CASE STUDY</a:t>
            </a:r>
          </a:p>
          <a:p>
            <a:r>
              <a:rPr sz="2000" b="1">
                <a:solidFill>
                  <a:srgbClr val="FFFFFF"/>
                </a:solidFill>
              </a:rPr>
              <a:t>Dashboard Page 1: Executive Sales &amp; KPI Overview</a:t>
            </a:r>
          </a:p>
        </p:txBody>
      </p:sp>
      <p:pic>
        <p:nvPicPr>
          <p:cNvPr id="4" name="Picture 3" descr="page1_executiv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13232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Executive Overview Insights:
</a:t>
            </a:r>
          </a:p>
          <a:p>
            <a:pPr>
              <a:spcAft>
                <a:spcPts val="800"/>
              </a:spcAft>
            </a:pPr>
            <a:r>
              <a:rPr sz="1100"/>
              <a:t>✔ KPI Cards: Real-time visibility into $31.7M Sales, $10.24M Profit, and 457 Units.</a:t>
            </a:r>
          </a:p>
          <a:p>
            <a:pPr>
              <a:spcAft>
                <a:spcPts val="800"/>
              </a:spcAft>
            </a:pPr>
            <a:r>
              <a:rPr sz="1100"/>
              <a:t>✔ Monthly Trendline: Clear upward revenue trajectory with seasonal mid-year peaks.</a:t>
            </a:r>
          </a:p>
          <a:p>
            <a:pPr>
              <a:spcAft>
                <a:spcPts val="800"/>
              </a:spcAft>
            </a:pPr>
            <a:r>
              <a:rPr sz="1100"/>
              <a:t>✔ Target Gauge: Visualizes actual sales surpassing $27.89M budget target (+13.6%).</a:t>
            </a:r>
          </a:p>
          <a:p>
            <a:pPr>
              <a:spcAft>
                <a:spcPts val="800"/>
              </a:spcAft>
            </a:pPr>
            <a:r>
              <a:rPr sz="1100"/>
              <a:t>✔ Make Bar Chart: Highlights Aston Martin ($10.7M) and Rolls Royce ($7.4M) as revenue anchors.</a:t>
            </a:r>
          </a:p>
          <a:p>
            <a:pPr>
              <a:spcAft>
                <a:spcPts val="800"/>
              </a:spcAft>
            </a:pPr>
            <a:r>
              <a:rPr sz="1100"/>
              <a:t>✔ Class Treemap: Demonstrates heavy customer preference for Coupe and Saloon styles.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AUTOMOBILE BUSINESS INTELLIGENCE CASE STUDY</a:t>
            </a:r>
          </a:p>
          <a:p>
            <a:r>
              <a:rPr sz="2000" b="1">
                <a:solidFill>
                  <a:srgbClr val="FFFFFF"/>
                </a:solidFill>
              </a:rPr>
              <a:t>Dashboard Page 2: Financial Performance &amp; Profitability</a:t>
            </a:r>
          </a:p>
        </p:txBody>
      </p:sp>
      <p:pic>
        <p:nvPicPr>
          <p:cNvPr id="4" name="Picture 3" descr="page2_financia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13232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Financial Highlights:
</a:t>
            </a:r>
          </a:p>
          <a:p>
            <a:pPr>
              <a:spcAft>
                <a:spcPts val="800"/>
              </a:spcAft>
            </a:pPr>
            <a:r>
              <a:rPr sz="1100"/>
              <a:t>✔ Combo Chart: Tracks revenue vs cost bars alongside the margin percentage line.</a:t>
            </a:r>
          </a:p>
          <a:p>
            <a:pPr>
              <a:spcAft>
                <a:spcPts val="800"/>
              </a:spcAft>
            </a:pPr>
            <a:r>
              <a:rPr sz="1100"/>
              <a:t>✔ Profit Waterfall: Breaks down positive profit contributions to the $10.2M total.</a:t>
            </a:r>
          </a:p>
          <a:p>
            <a:pPr>
              <a:spcAft>
                <a:spcPts val="800"/>
              </a:spcAft>
            </a:pPr>
            <a:r>
              <a:rPr sz="1100"/>
              <a:t>✔ Model Scatter Plot: Identifies superstar models (DB9, Camargue, Continental).</a:t>
            </a:r>
          </a:p>
          <a:p>
            <a:pPr>
              <a:spcAft>
                <a:spcPts val="800"/>
              </a:spcAft>
            </a:pPr>
            <a:r>
              <a:rPr sz="1100"/>
              <a:t>✔ Price Tier Histogram: Shows bimodal customer clusters ($20k–$40k vs $100k+).</a:t>
            </a:r>
          </a:p>
          <a:p>
            <a:pPr>
              <a:spcAft>
                <a:spcPts val="800"/>
              </a:spcAft>
            </a:pPr>
            <a:r>
              <a:rPr sz="1100"/>
              <a:t>✔ TVR Diagnostic: Uncovers -$0.1M operating loss due to high labor &amp; parts overhead.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AUTOMOBILE BUSINESS INTELLIGENCE CASE STUDY</a:t>
            </a:r>
          </a:p>
          <a:p>
            <a:r>
              <a:rPr sz="2000" b="1">
                <a:solidFill>
                  <a:srgbClr val="FFFFFF"/>
                </a:solidFill>
              </a:rPr>
              <a:t>Dashboard Page 3: Regional &amp; Geographic Analysis</a:t>
            </a:r>
          </a:p>
        </p:txBody>
      </p:sp>
      <p:pic>
        <p:nvPicPr>
          <p:cNvPr id="4" name="Picture 3" descr="page3_regional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13232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Geographic Highlights:
</a:t>
            </a:r>
          </a:p>
          <a:p>
            <a:pPr>
              <a:spcAft>
                <a:spcPts val="800"/>
              </a:spcAft>
            </a:pPr>
            <a:r>
              <a:rPr sz="1100"/>
              <a:t>✔ Global Map Visual: Interactive Bing map plotting regional sales volume bubbles.</a:t>
            </a:r>
          </a:p>
          <a:p>
            <a:pPr>
              <a:spcAft>
                <a:spcPts val="800"/>
              </a:spcAft>
            </a:pPr>
            <a:r>
              <a:rPr sz="1100"/>
              <a:t>✔ Market Share Donut: UK commands 49.61% and USA commands 36.77% of sales.</a:t>
            </a:r>
          </a:p>
          <a:p>
            <a:pPr>
              <a:spcAft>
                <a:spcPts val="800"/>
              </a:spcAft>
            </a:pPr>
            <a:r>
              <a:rPr sz="1100"/>
              <a:t>✔ Stacked Bar Chart: Cross-analyzes brand popularity within each destination country.</a:t>
            </a:r>
          </a:p>
          <a:p>
            <a:pPr>
              <a:spcAft>
                <a:spcPts val="800"/>
              </a:spcAft>
            </a:pPr>
            <a:r>
              <a:rPr sz="1100"/>
              <a:t>✔ Heatmap Matrix: Highlights intense $4.93M Aston Martin &amp; $4.32M Rolls Royce demand in UK.</a:t>
            </a:r>
          </a:p>
          <a:p>
            <a:pPr>
              <a:spcAft>
                <a:spcPts val="800"/>
              </a:spcAft>
            </a:pPr>
            <a:r>
              <a:rPr sz="1100"/>
              <a:t>✔ European Frontiers: Identifies expansion upside in France ($2.52M), Germany ($146k), Spain ($208k).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AUTOMOBILE BUSINESS INTELLIGENCE CASE STUDY</a:t>
            </a:r>
          </a:p>
          <a:p>
            <a:r>
              <a:rPr sz="2000" b="1">
                <a:solidFill>
                  <a:srgbClr val="FFFFFF"/>
                </a:solidFill>
              </a:rPr>
              <a:t>Strategic Recommendations &amp; Action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</a:rPr>
              <a:t>1. TVR PROFIT RESTRUCTURING</a:t>
            </a:r>
          </a:p>
          <a:p>
            <a:pPr algn="ctr"/>
            <a:r>
              <a:rPr sz="2200" b="1">
                <a:solidFill>
                  <a:srgbClr val="1E3A8A"/>
                </a:solidFill>
              </a:rPr>
              <a:t>Eliminate Loss</a:t>
            </a:r>
          </a:p>
          <a:p>
            <a:pPr algn="ctr"/>
            <a:r>
              <a:rPr sz="950">
                <a:solidFill>
                  <a:srgbClr val="059669"/>
                </a:solidFill>
              </a:rPr>
              <a:t>Re-evaluate labor rate allocation and parts markup to turn TVR profitable.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</a:rPr>
              <a:t>2. PRIORITIZE MARQUEE INVENTORY</a:t>
            </a:r>
          </a:p>
          <a:p>
            <a:pPr algn="ctr"/>
            <a:r>
              <a:rPr sz="2200" b="1">
                <a:solidFill>
                  <a:srgbClr val="1E3A8A"/>
                </a:solidFill>
              </a:rPr>
              <a:t>DB9 &amp; Camargue</a:t>
            </a:r>
          </a:p>
          <a:p>
            <a:pPr algn="ctr"/>
            <a:r>
              <a:rPr sz="950">
                <a:solidFill>
                  <a:srgbClr val="059669"/>
                </a:solidFill>
              </a:rPr>
              <a:t>Allocate guaranteed supply to Aston Martin DB9 and Rolls Royce Camargue.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</a:rPr>
              <a:t>3. EUROPEAN GEOGRAPHIC EXPANSION</a:t>
            </a:r>
          </a:p>
          <a:p>
            <a:pPr algn="ctr"/>
            <a:r>
              <a:rPr sz="2200" b="1">
                <a:solidFill>
                  <a:srgbClr val="1E3A8A"/>
                </a:solidFill>
              </a:rPr>
              <a:t>Germany &amp; Spain</a:t>
            </a:r>
          </a:p>
          <a:p>
            <a:pPr algn="ctr"/>
            <a:r>
              <a:rPr sz="950">
                <a:solidFill>
                  <a:srgbClr val="059669"/>
                </a:solidFill>
              </a:rPr>
              <a:t>Expand dealership presence in Frankfurt and Madrid to tap luxury EU markets.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12064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9319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</a:rPr>
              <a:t>4. VIP CLIENT LOYALTY CONCIERGE</a:t>
            </a:r>
          </a:p>
          <a:p>
            <a:pPr algn="ctr"/>
            <a:r>
              <a:rPr sz="2200" b="1">
                <a:solidFill>
                  <a:srgbClr val="1E3A8A"/>
                </a:solidFill>
              </a:rPr>
              <a:t>31 Key Buyers</a:t>
            </a:r>
          </a:p>
          <a:p>
            <a:pPr algn="ctr"/>
            <a:r>
              <a:rPr sz="950">
                <a:solidFill>
                  <a:srgbClr val="059669"/>
                </a:solidFill>
              </a:rPr>
              <a:t>Establish customized bespoke programs for the 31 high-net-worth client accounts.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AUTOMOBILE BUSINESS INTELLIGENCE CASE STUDY</a:t>
            </a:r>
          </a:p>
          <a:p>
            <a:r>
              <a:rPr sz="2000" b="1">
                <a:solidFill>
                  <a:srgbClr val="FFFFFF"/>
                </a:solidFill>
              </a:rPr>
              <a:t>Case Study Summary &amp; 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sz="1350">
                <a:solidFill>
                  <a:srgbClr val="1E3A8A"/>
                </a:solidFill>
              </a:rPr>
              <a:t>1. Revenue Outperformance: </a:t>
            </a:r>
            <a:r>
              <a:rPr sz="1300">
                <a:solidFill>
                  <a:srgbClr val="0F172A"/>
                </a:solidFill>
              </a:rPr>
              <a:t>Generated $31.70M gross revenue, beating the cost-plus annual benchmark ($27.89M) by +13.6%.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1E3A8A"/>
                </a:solidFill>
              </a:rPr>
              <a:t>2. Margin Resilience: </a:t>
            </a:r>
            <a:r>
              <a:rPr sz="1300">
                <a:solidFill>
                  <a:srgbClr val="0F172A"/>
                </a:solidFill>
              </a:rPr>
              <a:t>Achieved an aggregate net operating margin of 32.3% ($10.24M profit) driven by strong brand equity in Aston Martin and Rolls Royce.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1E3A8A"/>
                </a:solidFill>
              </a:rPr>
              <a:t>3. Portfolio Concentration: </a:t>
            </a:r>
            <a:r>
              <a:rPr sz="1300">
                <a:solidFill>
                  <a:srgbClr val="0F172A"/>
                </a:solidFill>
              </a:rPr>
              <a:t>Top 2 brands drive 56.9% of total sales; Top 2 models (DB9 &amp; Camargue) account for $9.54M (30.1% of global revenue).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1E3A8A"/>
                </a:solidFill>
              </a:rPr>
              <a:t>4. Operational Rectification: </a:t>
            </a:r>
            <a:r>
              <a:rPr sz="1300">
                <a:solidFill>
                  <a:srgbClr val="0F172A"/>
                </a:solidFill>
              </a:rPr>
              <a:t>Identified TVR operational deficit (-$0.1M), establishing a clear turnaround path via workshop rate adjustment and parts re-pricing.</a:t>
            </a:r>
          </a:p>
          <a:p>
            <a:pPr>
              <a:spcAft>
                <a:spcPts val="1200"/>
              </a:spcAft>
            </a:pPr>
            <a:r>
              <a:rPr sz="1350">
                <a:solidFill>
                  <a:srgbClr val="1E3A8A"/>
                </a:solidFill>
              </a:rPr>
              <a:t>5. Growth Roadmap: </a:t>
            </a:r>
            <a:r>
              <a:rPr sz="1300">
                <a:solidFill>
                  <a:srgbClr val="0F172A"/>
                </a:solidFill>
              </a:rPr>
              <a:t>Expanding into underserved continental European hubs (Frankfurt, Madrid) represents an estimated $3.5M–$5.0M annual revenue opportunity.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377440"/>
            <a:ext cx="85340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